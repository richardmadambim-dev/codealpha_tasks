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587" autoAdjust="0"/>
    <p:restoredTop sz="86467" autoAdjust="0"/>
  </p:normalViewPr>
  <p:slideViewPr>
    <p:cSldViewPr snapToGrid="0">
      <p:cViewPr varScale="1">
        <p:scale>
          <a:sx n="59" d="100"/>
          <a:sy n="59" d="100"/>
        </p:scale>
        <p:origin x="212" y="0"/>
      </p:cViewPr>
      <p:guideLst/>
    </p:cSldViewPr>
  </p:slideViewPr>
  <p:outlineViewPr>
    <p:cViewPr>
      <p:scale>
        <a:sx n="33" d="100"/>
        <a:sy n="33" d="100"/>
      </p:scale>
      <p:origin x="0" y="-3512"/>
    </p:cViewPr>
  </p:outlineViewPr>
  <p:notesTextViewPr>
    <p:cViewPr>
      <p:scale>
        <a:sx n="1" d="1"/>
        <a:sy n="1" d="1"/>
      </p:scale>
      <p:origin x="0" y="0"/>
    </p:cViewPr>
  </p:notesTextViewPr>
  <p:sorterViewPr>
    <p:cViewPr>
      <p:scale>
        <a:sx n="100" d="100"/>
        <a:sy n="100" d="100"/>
      </p:scale>
      <p:origin x="0" y="-1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D5A157-B122-4C4F-8559-3A52E941191F}" type="datetimeFigureOut">
              <a:rPr lang="en-US" smtClean="0"/>
              <a:t>10/12/2026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9A3DA9-F024-47BD-8960-D68332216768}" type="slidenum">
              <a:rPr lang="en-US" smtClean="0"/>
              <a:t>‹#›</a:t>
            </a:fld>
            <a:endParaRPr lang="en-US"/>
          </a:p>
        </p:txBody>
      </p:sp>
    </p:spTree>
    <p:extLst>
      <p:ext uri="{BB962C8B-B14F-4D97-AF65-F5344CB8AC3E}">
        <p14:creationId xmlns:p14="http://schemas.microsoft.com/office/powerpoint/2010/main" val="1052810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C9A3DA9-F024-47BD-8960-D68332216768}" type="slidenum">
              <a:rPr lang="en-US" smtClean="0"/>
              <a:t>2</a:t>
            </a:fld>
            <a:endParaRPr lang="en-US"/>
          </a:p>
        </p:txBody>
      </p:sp>
    </p:spTree>
    <p:extLst>
      <p:ext uri="{BB962C8B-B14F-4D97-AF65-F5344CB8AC3E}">
        <p14:creationId xmlns:p14="http://schemas.microsoft.com/office/powerpoint/2010/main" val="4179614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23BF71-38B7-8642-BFCE-EDAE9BD0CBAF}" type="datetimeFigureOut">
              <a:rPr lang="en-US" dirty="0"/>
              <a:t>10/12/2026</a:t>
            </a:fld>
            <a:endParaRPr lang="en-US" dirty="0"/>
          </a:p>
        </p:txBody>
      </p:sp>
      <p:sp>
        <p:nvSpPr>
          <p:cNvPr id="5" name="Footer Placeholder 4"/>
          <p:cNvSpPr>
            <a:spLocks noGrp="1"/>
          </p:cNvSpPr>
          <p:nvPr>
            <p:ph type="ftr" sz="quarter" idx="11"/>
          </p:nvPr>
        </p:nvSpPr>
        <p:spPr>
          <a:xfrm>
            <a:off x="2493105" y="329307"/>
            <a:ext cx="4897310"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981CDE-9BE7-C544-8ACB-7077DFC4270F}" type="datetimeFigureOut">
              <a:rPr lang="en-US" dirty="0"/>
              <a:t>10/12/2026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5BA285-9698-1B45-8319-D90A8C63F150}" type="datetimeFigureOut">
              <a:rPr lang="en-US" dirty="0"/>
              <a:t>10/12/2026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86CD42-43FF-B740-998F-DCC3802C4CE3}" type="datetimeFigureOut">
              <a:rPr lang="en-US" dirty="0"/>
              <a:t>10/12/2026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A0FFBD-2EE4-8547-BBAE-A1AC91C8D77E}" type="datetimeFigureOut">
              <a:rPr lang="en-US" dirty="0"/>
              <a:t>10/12/2026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5A2352-D7AC-F242-9256-A4477BCBF354}" type="datetimeFigureOut">
              <a:rPr lang="en-US" dirty="0"/>
              <a:t>10/12/2026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FC6A-9AE6-404D-9FDD-168B477B9C90}" type="datetimeFigureOut">
              <a:rPr lang="en-US" dirty="0"/>
              <a:t>10/12/2026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CFCDFD-B4CF-A241-8D71-E814B10BEAF4}" type="datetimeFigureOut">
              <a:rPr lang="en-US" dirty="0"/>
              <a:t>10/12/2026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26A7B589-FD4B-7E46-869A-CBADC5FC564E}" type="datetimeFigureOut">
              <a:rPr lang="en-US" dirty="0"/>
              <a:t>10/12/2026</a:t>
            </a:fld>
            <a:endParaRPr lang="en-US" dirty="0"/>
          </a:p>
        </p:txBody>
      </p:sp>
      <p:sp>
        <p:nvSpPr>
          <p:cNvPr id="6" name="Footer Placeholder 5"/>
          <p:cNvSpPr>
            <a:spLocks noGrp="1"/>
          </p:cNvSpPr>
          <p:nvPr>
            <p:ph type="ftr" sz="quarter" idx="11"/>
          </p:nvPr>
        </p:nvSpPr>
        <p:spPr>
          <a:xfrm>
            <a:off x="1534910" y="318640"/>
            <a:ext cx="5453475"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B025CB-9D18-264E-A945-2D020344C9DA}" type="datetimeFigureOut">
              <a:rPr lang="en-US" dirty="0"/>
              <a:t>10/12/2026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7EFB6C-7E96-8F41-8872-189CA1C59F84}" type="datetimeFigureOut">
              <a:rPr lang="en-US" dirty="0"/>
              <a:t>10/12/2026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CD8A92E-5FF9-8143-81B3-CCB531513398}" type="datetimeFigureOut">
              <a:rPr lang="en-US" dirty="0"/>
              <a:t>10/12/2026</a:t>
            </a:fld>
            <a:endParaRPr lang="en-US" dirty="0"/>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698F7-5ABF-57A8-E3D5-019D4207BC92}"/>
              </a:ext>
            </a:extLst>
          </p:cNvPr>
          <p:cNvSpPr>
            <a:spLocks noGrp="1"/>
          </p:cNvSpPr>
          <p:nvPr>
            <p:ph type="ctrTitle"/>
          </p:nvPr>
        </p:nvSpPr>
        <p:spPr>
          <a:xfrm>
            <a:off x="2579913" y="802299"/>
            <a:ext cx="9416144" cy="1494588"/>
          </a:xfrm>
        </p:spPr>
        <p:txBody>
          <a:bodyPr>
            <a:normAutofit/>
          </a:bodyPr>
          <a:lstStyle/>
          <a:p>
            <a:pPr algn="ctr"/>
            <a:r>
              <a:rPr lang="en-GB" sz="4000" b="1" dirty="0"/>
              <a:t>PHISHING AWARENESS TRAINING</a:t>
            </a:r>
            <a:endParaRPr lang="en-US" sz="4000" b="1" dirty="0"/>
          </a:p>
        </p:txBody>
      </p:sp>
      <p:sp>
        <p:nvSpPr>
          <p:cNvPr id="3" name="Subtitle 2">
            <a:extLst>
              <a:ext uri="{FF2B5EF4-FFF2-40B4-BE49-F238E27FC236}">
                <a16:creationId xmlns:a16="http://schemas.microsoft.com/office/drawing/2014/main" id="{61666903-7BE8-C80C-26BD-12F6F8FB89FC}"/>
              </a:ext>
            </a:extLst>
          </p:cNvPr>
          <p:cNvSpPr>
            <a:spLocks noGrp="1"/>
          </p:cNvSpPr>
          <p:nvPr>
            <p:ph type="subTitle" idx="1"/>
          </p:nvPr>
        </p:nvSpPr>
        <p:spPr/>
        <p:txBody>
          <a:bodyPr>
            <a:normAutofit/>
          </a:bodyPr>
          <a:lstStyle/>
          <a:p>
            <a:pPr algn="ctr"/>
            <a:r>
              <a:rPr lang="en-GB" sz="2400" b="1" dirty="0"/>
              <a:t>PHISHING AWARENESS</a:t>
            </a:r>
            <a:endParaRPr lang="en-US" sz="2400" b="1" dirty="0"/>
          </a:p>
        </p:txBody>
      </p:sp>
    </p:spTree>
    <p:extLst>
      <p:ext uri="{BB962C8B-B14F-4D97-AF65-F5344CB8AC3E}">
        <p14:creationId xmlns:p14="http://schemas.microsoft.com/office/powerpoint/2010/main" val="158439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E7427-9778-9407-A9C4-3F80E69F1580}"/>
              </a:ext>
            </a:extLst>
          </p:cNvPr>
          <p:cNvSpPr>
            <a:spLocks noGrp="1"/>
          </p:cNvSpPr>
          <p:nvPr>
            <p:ph type="title"/>
          </p:nvPr>
        </p:nvSpPr>
        <p:spPr/>
        <p:txBody>
          <a:bodyPr/>
          <a:lstStyle/>
          <a:p>
            <a:pPr algn="ctr"/>
            <a:r>
              <a:rPr lang="en-GB" b="1" dirty="0"/>
              <a:t>PHISHING</a:t>
            </a:r>
            <a:endParaRPr lang="en-US" b="1" dirty="0"/>
          </a:p>
        </p:txBody>
      </p:sp>
      <p:sp>
        <p:nvSpPr>
          <p:cNvPr id="3" name="Content Placeholder 2">
            <a:extLst>
              <a:ext uri="{FF2B5EF4-FFF2-40B4-BE49-F238E27FC236}">
                <a16:creationId xmlns:a16="http://schemas.microsoft.com/office/drawing/2014/main" id="{E7B4C17E-C929-F3A8-A50A-7813E49C74A5}"/>
              </a:ext>
            </a:extLst>
          </p:cNvPr>
          <p:cNvSpPr>
            <a:spLocks noGrp="1"/>
          </p:cNvSpPr>
          <p:nvPr>
            <p:ph idx="1"/>
          </p:nvPr>
        </p:nvSpPr>
        <p:spPr/>
        <p:txBody>
          <a:bodyPr>
            <a:normAutofit fontScale="25000" lnSpcReduction="20000"/>
          </a:bodyPr>
          <a:lstStyle/>
          <a:p>
            <a:r>
              <a:rPr lang="en-GB" sz="9600" dirty="0">
                <a:latin typeface="Times New Roman" panose="02020603050405020304" pitchFamily="18" charset="0"/>
                <a:cs typeface="Times New Roman" panose="02020603050405020304" pitchFamily="18" charset="0"/>
              </a:rPr>
              <a:t>Phishing is a type of social engineering cyberattack where criminals pretend to be  trusted organizations or people to trick individuals into sharing sensitive information</a:t>
            </a:r>
          </a:p>
          <a:p>
            <a:r>
              <a:rPr lang="en-GB" sz="9600" dirty="0">
                <a:latin typeface="Times New Roman" panose="02020603050405020304" pitchFamily="18" charset="0"/>
                <a:cs typeface="Times New Roman" panose="02020603050405020304" pitchFamily="18" charset="0"/>
              </a:rPr>
              <a:t>It mainly happened by the use fraudulent emails, text messages, phone calls or websites to trick people into sharing sensitive data, downloading malware or otherwise exposing themselves to cybercrime</a:t>
            </a:r>
          </a:p>
          <a:p>
            <a:r>
              <a:rPr lang="en-GB" sz="9600" dirty="0">
                <a:latin typeface="Times New Roman" panose="02020603050405020304" pitchFamily="18" charset="0"/>
                <a:cs typeface="Times New Roman" panose="02020603050405020304" pitchFamily="18" charset="0"/>
              </a:rPr>
              <a:t>The goal behind is to steal passwords, personal data, money or install malware</a:t>
            </a:r>
          </a:p>
          <a:p>
            <a:endParaRPr lang="en-US" dirty="0"/>
          </a:p>
        </p:txBody>
      </p:sp>
    </p:spTree>
    <p:extLst>
      <p:ext uri="{BB962C8B-B14F-4D97-AF65-F5344CB8AC3E}">
        <p14:creationId xmlns:p14="http://schemas.microsoft.com/office/powerpoint/2010/main" val="769047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23A71-B0E5-C789-51F6-7CF04FF539B8}"/>
              </a:ext>
            </a:extLst>
          </p:cNvPr>
          <p:cNvSpPr>
            <a:spLocks noGrp="1"/>
          </p:cNvSpPr>
          <p:nvPr>
            <p:ph type="title"/>
          </p:nvPr>
        </p:nvSpPr>
        <p:spPr>
          <a:xfrm>
            <a:off x="1534696" y="185058"/>
            <a:ext cx="9520158" cy="849086"/>
          </a:xfrm>
        </p:spPr>
        <p:txBody>
          <a:bodyPr/>
          <a:lstStyle/>
          <a:p>
            <a:r>
              <a:rPr lang="en-GB" b="1" dirty="0"/>
              <a:t>HOW TO RECOGNIZE PHISHING EMAILS</a:t>
            </a:r>
            <a:endParaRPr lang="en-US" b="1" dirty="0"/>
          </a:p>
        </p:txBody>
      </p:sp>
      <p:sp>
        <p:nvSpPr>
          <p:cNvPr id="3" name="Content Placeholder 2">
            <a:extLst>
              <a:ext uri="{FF2B5EF4-FFF2-40B4-BE49-F238E27FC236}">
                <a16:creationId xmlns:a16="http://schemas.microsoft.com/office/drawing/2014/main" id="{20E572FF-9660-6258-5D47-9A8939DA0521}"/>
              </a:ext>
            </a:extLst>
          </p:cNvPr>
          <p:cNvSpPr>
            <a:spLocks noGrp="1"/>
          </p:cNvSpPr>
          <p:nvPr>
            <p:ph idx="1"/>
          </p:nvPr>
        </p:nvSpPr>
        <p:spPr>
          <a:xfrm>
            <a:off x="1534696" y="1371600"/>
            <a:ext cx="10515790" cy="4572000"/>
          </a:xfrm>
        </p:spPr>
        <p:txBody>
          <a:bodyPr>
            <a:normAutofit fontScale="25000" lnSpcReduction="20000"/>
          </a:bodyPr>
          <a:lstStyle/>
          <a:p>
            <a:r>
              <a:rPr lang="en-GB" sz="8800" b="1" dirty="0">
                <a:latin typeface="Times New Roman" panose="02020603050405020304" pitchFamily="18" charset="0"/>
                <a:cs typeface="Times New Roman" panose="02020603050405020304" pitchFamily="18" charset="0"/>
              </a:rPr>
              <a:t>Spelling and bad grammar:</a:t>
            </a:r>
          </a:p>
          <a:p>
            <a:pPr marL="0" indent="0">
              <a:buNone/>
            </a:pPr>
            <a:r>
              <a:rPr lang="en-GB" sz="8000" dirty="0">
                <a:latin typeface="Times New Roman" panose="02020603050405020304" pitchFamily="18" charset="0"/>
                <a:cs typeface="Times New Roman" panose="02020603050405020304" pitchFamily="18" charset="0"/>
              </a:rPr>
              <a:t>Cybercriminals are not known for their grammar and spelling. Professional companies proofread their emails. Many phishing emails contain odd wording or errors, though newer ones can be well written, so don't rely on this alone</a:t>
            </a:r>
          </a:p>
          <a:p>
            <a:r>
              <a:rPr lang="en-GB" sz="8800" b="1" dirty="0">
                <a:latin typeface="Times New Roman" panose="02020603050405020304" pitchFamily="18" charset="0"/>
                <a:cs typeface="Times New Roman" panose="02020603050405020304" pitchFamily="18" charset="0"/>
              </a:rPr>
              <a:t> Urgency or threats language:</a:t>
            </a:r>
          </a:p>
          <a:p>
            <a:pPr marL="0" indent="0">
              <a:buNone/>
            </a:pPr>
            <a:r>
              <a:rPr lang="en-GB" sz="8000" dirty="0">
                <a:latin typeface="Times New Roman" panose="02020603050405020304" pitchFamily="18" charset="0"/>
                <a:cs typeface="Times New Roman" panose="02020603050405020304" pitchFamily="18" charset="0"/>
              </a:rPr>
              <a:t> Scammers create fake panic to make you act without thinking—such as claiming your bank account will be locked, a package delivery failed, or your password expired immediately</a:t>
            </a:r>
          </a:p>
          <a:p>
            <a:r>
              <a:rPr lang="en-GB" sz="8800" b="1" dirty="0">
                <a:latin typeface="Times New Roman" panose="02020603050405020304" pitchFamily="18" charset="0"/>
                <a:cs typeface="Times New Roman" panose="02020603050405020304" pitchFamily="18" charset="0"/>
              </a:rPr>
              <a:t>Requests for secret Information:</a:t>
            </a:r>
          </a:p>
          <a:p>
            <a:pPr marL="0" indent="0">
              <a:buNone/>
            </a:pPr>
            <a:r>
              <a:rPr lang="en-GB" sz="8000" dirty="0">
                <a:latin typeface="Times New Roman" panose="02020603050405020304" pitchFamily="18" charset="0"/>
                <a:cs typeface="Times New Roman" panose="02020603050405020304" pitchFamily="18" charset="0"/>
              </a:rPr>
              <a:t> Legitimate companies and banks will never ask you for your password, PIN, or verification codes via email. Cybercriminals are sent emails and messages demanding for your credentials</a:t>
            </a:r>
          </a:p>
          <a:p>
            <a:r>
              <a:rPr lang="en-GB" sz="8000" dirty="0">
                <a:latin typeface="Times New Roman" panose="02020603050405020304" pitchFamily="18" charset="0"/>
                <a:cs typeface="Times New Roman" panose="02020603050405020304" pitchFamily="18" charset="0"/>
              </a:rPr>
              <a:t>Phishing emails can also be recognized by the sender’s email address example like ‘support@paypa1-security.com.’ and some strange greetings</a:t>
            </a:r>
          </a:p>
          <a:p>
            <a:endParaRPr lang="en-GB" sz="8000" dirty="0">
              <a:latin typeface="Times New Roman" panose="02020603050405020304" pitchFamily="18" charset="0"/>
              <a:cs typeface="Times New Roman" panose="02020603050405020304" pitchFamily="18" charset="0"/>
            </a:endParaRPr>
          </a:p>
          <a:p>
            <a:endParaRPr lang="en-GB" dirty="0"/>
          </a:p>
          <a:p>
            <a:endParaRPr lang="en-GB" dirty="0"/>
          </a:p>
          <a:p>
            <a:endParaRPr lang="en-GB" dirty="0"/>
          </a:p>
          <a:p>
            <a:endParaRPr lang="en-GB" dirty="0"/>
          </a:p>
          <a:p>
            <a:endParaRPr lang="en-GB" dirty="0"/>
          </a:p>
          <a:p>
            <a:pPr marL="0" indent="0">
              <a:buNone/>
            </a:pPr>
            <a:endParaRPr lang="en-GB" dirty="0"/>
          </a:p>
          <a:p>
            <a:pPr marL="0" indent="0">
              <a:buNone/>
            </a:pPr>
            <a:endParaRPr lang="en-US" dirty="0"/>
          </a:p>
        </p:txBody>
      </p:sp>
    </p:spTree>
    <p:extLst>
      <p:ext uri="{BB962C8B-B14F-4D97-AF65-F5344CB8AC3E}">
        <p14:creationId xmlns:p14="http://schemas.microsoft.com/office/powerpoint/2010/main" val="937744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2825E-A767-AA08-480F-9170DBE620C6}"/>
              </a:ext>
            </a:extLst>
          </p:cNvPr>
          <p:cNvSpPr>
            <a:spLocks noGrp="1"/>
          </p:cNvSpPr>
          <p:nvPr>
            <p:ph type="title"/>
          </p:nvPr>
        </p:nvSpPr>
        <p:spPr/>
        <p:txBody>
          <a:bodyPr/>
          <a:lstStyle/>
          <a:p>
            <a:pPr algn="ctr"/>
            <a:r>
              <a:rPr lang="en-GB" b="1" dirty="0"/>
              <a:t>HOW TO RECOGNIZE FAKE WEBSITES</a:t>
            </a:r>
            <a:endParaRPr lang="en-US" b="1" dirty="0"/>
          </a:p>
        </p:txBody>
      </p:sp>
      <p:sp>
        <p:nvSpPr>
          <p:cNvPr id="3" name="Content Placeholder 2">
            <a:extLst>
              <a:ext uri="{FF2B5EF4-FFF2-40B4-BE49-F238E27FC236}">
                <a16:creationId xmlns:a16="http://schemas.microsoft.com/office/drawing/2014/main" id="{56E2994B-4AB1-1D9A-1D79-D46D05DC2A06}"/>
              </a:ext>
            </a:extLst>
          </p:cNvPr>
          <p:cNvSpPr>
            <a:spLocks noGrp="1"/>
          </p:cNvSpPr>
          <p:nvPr>
            <p:ph idx="1"/>
          </p:nvPr>
        </p:nvSpPr>
        <p:spPr>
          <a:xfrm>
            <a:off x="1458495" y="2233447"/>
            <a:ext cx="10548447" cy="4047610"/>
          </a:xfrm>
        </p:spPr>
        <p:txBody>
          <a:bodyPr>
            <a:normAutofit fontScale="55000" lnSpcReduction="20000"/>
          </a:bodyPr>
          <a:lstStyle/>
          <a:p>
            <a:r>
              <a:rPr lang="en-GB" sz="3600" b="1" dirty="0">
                <a:latin typeface="Times New Roman" panose="02020603050405020304" pitchFamily="18" charset="0"/>
                <a:ea typeface="HGPSoeiKakugothicUB" panose="020B0400000000000000" pitchFamily="34" charset="-128"/>
                <a:cs typeface="Times New Roman" panose="02020603050405020304" pitchFamily="18" charset="0"/>
              </a:rPr>
              <a:t>The use of HTTP and Non-Padlock website address:</a:t>
            </a:r>
          </a:p>
          <a:p>
            <a:pPr marL="0" indent="0">
              <a:buNone/>
            </a:pPr>
            <a:r>
              <a:rPr lang="en-GB" sz="3600" dirty="0">
                <a:latin typeface="Times New Roman" panose="02020603050405020304" pitchFamily="18" charset="0"/>
                <a:cs typeface="Times New Roman" panose="02020603050405020304" pitchFamily="18" charset="0"/>
              </a:rPr>
              <a:t>A secure website should have a valid SSL certificate, indicated by a padlock icon in the address bar and "https://" at the beginning of the URL. However, don't rely solely on this as a means of verification, as some fake websites may also have SSL certificates</a:t>
            </a:r>
          </a:p>
          <a:p>
            <a:r>
              <a:rPr lang="en-GB" sz="3600" dirty="0">
                <a:latin typeface="Times New Roman" panose="02020603050405020304" pitchFamily="18" charset="0"/>
                <a:cs typeface="Times New Roman" panose="02020603050405020304" pitchFamily="18" charset="0"/>
              </a:rPr>
              <a:t> </a:t>
            </a:r>
            <a:r>
              <a:rPr lang="en-GB" sz="3600" b="1" dirty="0">
                <a:latin typeface="Times New Roman" panose="02020603050405020304" pitchFamily="18" charset="0"/>
                <a:cs typeface="Times New Roman" panose="02020603050405020304" pitchFamily="18" charset="0"/>
              </a:rPr>
              <a:t>Check the URL carefully</a:t>
            </a:r>
            <a:r>
              <a:rPr lang="en-GB" sz="3600" dirty="0">
                <a:latin typeface="Times New Roman" panose="02020603050405020304" pitchFamily="18" charset="0"/>
                <a:cs typeface="Times New Roman" panose="02020603050405020304" pitchFamily="18" charset="0"/>
              </a:rPr>
              <a:t>:</a:t>
            </a:r>
          </a:p>
          <a:p>
            <a:pPr marL="0" indent="0">
              <a:buNone/>
            </a:pPr>
            <a:r>
              <a:rPr lang="en-GB" sz="3600" dirty="0">
                <a:latin typeface="Times New Roman" panose="02020603050405020304" pitchFamily="18" charset="0"/>
                <a:cs typeface="Times New Roman" panose="02020603050405020304" pitchFamily="18" charset="0"/>
              </a:rPr>
              <a:t>Scrutinize the URL for any spelling mistakes, unusual characters, or slight variations from the legitimate website's address.</a:t>
            </a:r>
          </a:p>
          <a:p>
            <a:r>
              <a:rPr lang="en-GB" sz="3600" b="1" dirty="0">
                <a:latin typeface="Times New Roman" panose="02020603050405020304" pitchFamily="18" charset="0"/>
                <a:cs typeface="Times New Roman" panose="02020603050405020304" pitchFamily="18" charset="0"/>
              </a:rPr>
              <a:t> Look for Poor Quality or Design Flaws: </a:t>
            </a:r>
          </a:p>
          <a:p>
            <a:pPr marL="0" indent="0">
              <a:buNone/>
            </a:pPr>
            <a:r>
              <a:rPr lang="en-GB" sz="3600" dirty="0">
                <a:latin typeface="Times New Roman" panose="02020603050405020304" pitchFamily="18" charset="0"/>
                <a:cs typeface="Times New Roman" panose="02020603050405020304" pitchFamily="18" charset="0"/>
              </a:rPr>
              <a:t> Broken images, low-resolution logos, weird fonts, or contact pages that lack real physical addresses and customer service lines often point to a scam site.</a:t>
            </a:r>
          </a:p>
          <a:p>
            <a:endParaRPr lang="en-GB" sz="3600" dirty="0">
              <a:latin typeface="Times New Roman" panose="02020603050405020304" pitchFamily="18" charset="0"/>
              <a:cs typeface="Times New Roman" panose="02020603050405020304" pitchFamily="18" charset="0"/>
            </a:endParaRPr>
          </a:p>
          <a:p>
            <a:endParaRPr lang="en-GB" dirty="0"/>
          </a:p>
          <a:p>
            <a:endParaRPr lang="en-US" dirty="0"/>
          </a:p>
        </p:txBody>
      </p:sp>
    </p:spTree>
    <p:extLst>
      <p:ext uri="{BB962C8B-B14F-4D97-AF65-F5344CB8AC3E}">
        <p14:creationId xmlns:p14="http://schemas.microsoft.com/office/powerpoint/2010/main" val="763557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52DEB-F0B9-5160-3223-B5F814814317}"/>
              </a:ext>
            </a:extLst>
          </p:cNvPr>
          <p:cNvSpPr>
            <a:spLocks noGrp="1"/>
          </p:cNvSpPr>
          <p:nvPr>
            <p:ph type="title"/>
          </p:nvPr>
        </p:nvSpPr>
        <p:spPr>
          <a:xfrm>
            <a:off x="1534696" y="233681"/>
            <a:ext cx="9520158" cy="873759"/>
          </a:xfrm>
        </p:spPr>
        <p:txBody>
          <a:bodyPr/>
          <a:lstStyle/>
          <a:p>
            <a:pPr algn="ctr"/>
            <a:r>
              <a:rPr lang="en-GB" b="1" dirty="0">
                <a:latin typeface="Times New Roman" panose="02020603050405020304" pitchFamily="18" charset="0"/>
                <a:cs typeface="Times New Roman" panose="02020603050405020304" pitchFamily="18" charset="0"/>
              </a:rPr>
              <a:t>SOCIAL ENGINEERING TACTICS</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577CCE4-A0BA-6246-B1E5-C13E33C6BD43}"/>
              </a:ext>
            </a:extLst>
          </p:cNvPr>
          <p:cNvSpPr>
            <a:spLocks noGrp="1"/>
          </p:cNvSpPr>
          <p:nvPr>
            <p:ph idx="1"/>
          </p:nvPr>
        </p:nvSpPr>
        <p:spPr>
          <a:xfrm>
            <a:off x="1534696" y="1412240"/>
            <a:ext cx="10657304" cy="5537200"/>
          </a:xfrm>
        </p:spPr>
        <p:txBody>
          <a:bodyPr>
            <a:normAutofit fontScale="25000" lnSpcReduction="20000"/>
          </a:bodyPr>
          <a:lstStyle/>
          <a:p>
            <a:r>
              <a:rPr lang="en-GB" sz="8000" b="1" dirty="0">
                <a:latin typeface="Times New Roman" panose="02020603050405020304" pitchFamily="18" charset="0"/>
                <a:cs typeface="Times New Roman" panose="02020603050405020304" pitchFamily="18" charset="0"/>
              </a:rPr>
              <a:t>What social engineering at the first place</a:t>
            </a:r>
          </a:p>
          <a:p>
            <a:r>
              <a:rPr lang="en-GB" sz="8000" dirty="0">
                <a:latin typeface="Times New Roman" panose="02020603050405020304" pitchFamily="18" charset="0"/>
                <a:cs typeface="Times New Roman" panose="02020603050405020304" pitchFamily="18" charset="0"/>
              </a:rPr>
              <a:t>Social engineering is the term used for a broad range of malicious activities accomplished through human interactions. It uses psychological manipulation to trick users into making security mistakes or giving away sensitive information.</a:t>
            </a:r>
          </a:p>
          <a:p>
            <a:r>
              <a:rPr lang="en-GB" sz="8000" b="1" dirty="0">
                <a:latin typeface="Times New Roman" panose="02020603050405020304" pitchFamily="18" charset="0"/>
                <a:cs typeface="Times New Roman" panose="02020603050405020304" pitchFamily="18" charset="0"/>
              </a:rPr>
              <a:t>Pretexting</a:t>
            </a:r>
          </a:p>
          <a:p>
            <a:pPr marL="0" indent="0">
              <a:buNone/>
            </a:pPr>
            <a:r>
              <a:rPr lang="en-GB" sz="8000" dirty="0">
                <a:latin typeface="Times New Roman" panose="02020603050405020304" pitchFamily="18" charset="0"/>
                <a:cs typeface="Times New Roman" panose="02020603050405020304" pitchFamily="18" charset="0"/>
              </a:rPr>
              <a:t>Here an attacker obtains information through a series of cleverly crafted lies. The scam is often initiated by a perpetrator pretending to need sensitive information from a victim so as to perform a critical task.</a:t>
            </a:r>
          </a:p>
          <a:p>
            <a:r>
              <a:rPr lang="en-GB" sz="8000" b="1" dirty="0">
                <a:latin typeface="Times New Roman" panose="02020603050405020304" pitchFamily="18" charset="0"/>
                <a:cs typeface="Times New Roman" panose="02020603050405020304" pitchFamily="18" charset="0"/>
              </a:rPr>
              <a:t>Phishing</a:t>
            </a:r>
          </a:p>
          <a:p>
            <a:pPr marL="0" indent="0">
              <a:buNone/>
            </a:pPr>
            <a:r>
              <a:rPr lang="en-GB" sz="8000" dirty="0">
                <a:latin typeface="Times New Roman" panose="02020603050405020304" pitchFamily="18" charset="0"/>
                <a:cs typeface="Times New Roman" panose="02020603050405020304" pitchFamily="18" charset="0"/>
              </a:rPr>
              <a:t>As one of the most popular social engineering attack types, phishing scams are email and text message campaigns aimed at creating a sense of urgency, curiosity or fear in victims. It then prods them into revealing sensitive information, clicking on links to malicious websites, or opening attachments that contain malware.</a:t>
            </a:r>
          </a:p>
          <a:p>
            <a:r>
              <a:rPr lang="en-GB" sz="8000" b="1" dirty="0">
                <a:latin typeface="Times New Roman" panose="02020603050405020304" pitchFamily="18" charset="0"/>
                <a:cs typeface="Times New Roman" panose="02020603050405020304" pitchFamily="18" charset="0"/>
              </a:rPr>
              <a:t>Spear phishing</a:t>
            </a:r>
          </a:p>
          <a:p>
            <a:pPr marL="0" indent="0">
              <a:buNone/>
            </a:pPr>
            <a:r>
              <a:rPr lang="en-GB" sz="8000" dirty="0">
                <a:latin typeface="Times New Roman" panose="02020603050405020304" pitchFamily="18" charset="0"/>
                <a:cs typeface="Times New Roman" panose="02020603050405020304" pitchFamily="18" charset="0"/>
              </a:rPr>
              <a:t>This is a more targeted version of the phishing scam whereby an attacker chooses specific individuals or enterprises. They then tailor their messages based on characteristics, job positions, and contacts belonging to their victims to make their attack less conspicuous. Baiting</a:t>
            </a:r>
          </a:p>
          <a:p>
            <a:r>
              <a:rPr lang="en-GB" sz="8000" dirty="0">
                <a:latin typeface="Times New Roman" panose="02020603050405020304" pitchFamily="18" charset="0"/>
                <a:cs typeface="Times New Roman" panose="02020603050405020304" pitchFamily="18" charset="0"/>
              </a:rPr>
              <a:t>Vishing and Smishing</a:t>
            </a:r>
          </a:p>
          <a:p>
            <a:r>
              <a:rPr lang="en-GB" sz="8000" dirty="0">
                <a:latin typeface="Times New Roman" panose="02020603050405020304" pitchFamily="18" charset="0"/>
                <a:cs typeface="Times New Roman" panose="02020603050405020304" pitchFamily="18" charset="0"/>
              </a:rPr>
              <a:t>Business Email Compromis</a:t>
            </a:r>
            <a:r>
              <a:rPr lang="en-GB" dirty="0"/>
              <a:t>e</a:t>
            </a:r>
            <a:endParaRPr lang="en-US" dirty="0"/>
          </a:p>
        </p:txBody>
      </p:sp>
    </p:spTree>
    <p:extLst>
      <p:ext uri="{BB962C8B-B14F-4D97-AF65-F5344CB8AC3E}">
        <p14:creationId xmlns:p14="http://schemas.microsoft.com/office/powerpoint/2010/main" val="2343924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491BE-1827-3B8B-AD82-106429957021}"/>
              </a:ext>
            </a:extLst>
          </p:cNvPr>
          <p:cNvSpPr>
            <a:spLocks noGrp="1"/>
          </p:cNvSpPr>
          <p:nvPr>
            <p:ph type="title"/>
          </p:nvPr>
        </p:nvSpPr>
        <p:spPr>
          <a:xfrm>
            <a:off x="1534696" y="348344"/>
            <a:ext cx="9520158" cy="870856"/>
          </a:xfrm>
        </p:spPr>
        <p:txBody>
          <a:bodyPr/>
          <a:lstStyle/>
          <a:p>
            <a:pPr algn="ctr"/>
            <a:r>
              <a:rPr lang="en-GB" b="1" dirty="0">
                <a:latin typeface="Times New Roman" panose="02020603050405020304" pitchFamily="18" charset="0"/>
                <a:cs typeface="Times New Roman" panose="02020603050405020304" pitchFamily="18" charset="0"/>
              </a:rPr>
              <a:t>HOW TO AVOID FALLING A VICTIM</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DC2A8E8-25C8-F5C4-FD0C-DCC3FFC34A84}"/>
              </a:ext>
            </a:extLst>
          </p:cNvPr>
          <p:cNvSpPr>
            <a:spLocks noGrp="1"/>
          </p:cNvSpPr>
          <p:nvPr>
            <p:ph idx="1"/>
          </p:nvPr>
        </p:nvSpPr>
        <p:spPr>
          <a:xfrm>
            <a:off x="1534696" y="1545772"/>
            <a:ext cx="9520158" cy="3920574"/>
          </a:xfrm>
        </p:spPr>
        <p:txBody>
          <a:bodyPr>
            <a:noAutofit/>
          </a:bodyPr>
          <a:lstStyle/>
          <a:p>
            <a:r>
              <a:rPr lang="en-GB" dirty="0">
                <a:latin typeface="Times New Roman" panose="02020603050405020304" pitchFamily="18" charset="0"/>
                <a:cs typeface="Times New Roman" panose="02020603050405020304" pitchFamily="18" charset="0"/>
              </a:rPr>
              <a:t>Spot and Avoid Phishing Scams: </a:t>
            </a:r>
          </a:p>
          <a:p>
            <a:pPr marL="0" indent="0">
              <a:buNone/>
            </a:pPr>
            <a:r>
              <a:rPr lang="en-GB" dirty="0">
                <a:latin typeface="Times New Roman" panose="02020603050405020304" pitchFamily="18" charset="0"/>
                <a:cs typeface="Times New Roman" panose="02020603050405020304" pitchFamily="18" charset="0"/>
              </a:rPr>
              <a:t>Do not click links or open attachments in unexpected emails, text messages, or direct messages. Scammers often create urgent situations or fake websites </a:t>
            </a:r>
          </a:p>
          <a:p>
            <a:r>
              <a:rPr lang="en-GB" dirty="0">
                <a:latin typeface="Times New Roman" panose="02020603050405020304" pitchFamily="18" charset="0"/>
                <a:cs typeface="Times New Roman" panose="02020603050405020304" pitchFamily="18" charset="0"/>
              </a:rPr>
              <a:t>Use Multi-Factor Authentication</a:t>
            </a:r>
          </a:p>
          <a:p>
            <a:pPr marL="0" indent="0">
              <a:buNone/>
            </a:pPr>
            <a:r>
              <a:rPr lang="en-GB" dirty="0">
                <a:latin typeface="Times New Roman" panose="02020603050405020304" pitchFamily="18" charset="0"/>
                <a:cs typeface="Times New Roman" panose="02020603050405020304" pitchFamily="18" charset="0"/>
              </a:rPr>
              <a:t>One of the most effective ways to protect online accounts is through the use of multi-factor authentication. Sometimes called two-factor authentication, this security setting uses a secondary piece of information . This makes it more difficult for someone to access your account, even if they have your password.</a:t>
            </a:r>
          </a:p>
          <a:p>
            <a:r>
              <a:rPr lang="en-GB" dirty="0">
                <a:latin typeface="Times New Roman" panose="02020603050405020304" pitchFamily="18" charset="0"/>
                <a:cs typeface="Times New Roman" panose="02020603050405020304" pitchFamily="18" charset="0"/>
              </a:rPr>
              <a:t>Use a Password Manager</a:t>
            </a:r>
          </a:p>
          <a:p>
            <a:pPr marL="0" indent="0">
              <a:buNone/>
            </a:pPr>
            <a:r>
              <a:rPr lang="en-GB" dirty="0">
                <a:latin typeface="Times New Roman" panose="02020603050405020304" pitchFamily="18" charset="0"/>
                <a:cs typeface="Times New Roman" panose="02020603050405020304" pitchFamily="18" charset="0"/>
              </a:rPr>
              <a:t>A password is only as good as it is strong and unique. An ideal password contains a mixture of characters and symbols and is only used for one site. For example, a password for a social media account should never be the same as the one used for your online banking. Many password managers can create strong passwords on your behalf and store them securely.</a:t>
            </a:r>
          </a:p>
          <a:p>
            <a:r>
              <a:rPr lang="en-GB" dirty="0">
                <a:latin typeface="Times New Roman" panose="02020603050405020304" pitchFamily="18" charset="0"/>
                <a:cs typeface="Times New Roman" panose="02020603050405020304" pitchFamily="18" charset="0"/>
              </a:rPr>
              <a:t>Be Careful on Public Wi-Fi:</a:t>
            </a:r>
          </a:p>
          <a:p>
            <a:r>
              <a:rPr lang="en-GB" dirty="0">
                <a:latin typeface="Times New Roman" panose="02020603050405020304" pitchFamily="18" charset="0"/>
                <a:cs typeface="Times New Roman" panose="02020603050405020304" pitchFamily="18" charset="0"/>
              </a:rPr>
              <a:t> Avoid logging into bank accounts or making purchases while using free, public Wi-Fi network.</a:t>
            </a:r>
          </a:p>
          <a:p>
            <a:r>
              <a:rPr lang="en-US" dirty="0">
                <a:latin typeface="Times New Roman" panose="02020603050405020304" pitchFamily="18" charset="0"/>
                <a:cs typeface="Times New Roman" panose="02020603050405020304" pitchFamily="18" charset="0"/>
              </a:rPr>
              <a:t>Always keep software updated</a:t>
            </a:r>
          </a:p>
          <a:p>
            <a:r>
              <a:rPr lang="en-US" dirty="0">
                <a:latin typeface="Times New Roman" panose="02020603050405020304" pitchFamily="18" charset="0"/>
                <a:cs typeface="Times New Roman" panose="02020603050405020304" pitchFamily="18" charset="0"/>
              </a:rPr>
              <a:t>Install antivirus software</a:t>
            </a:r>
          </a:p>
        </p:txBody>
      </p:sp>
    </p:spTree>
    <p:extLst>
      <p:ext uri="{BB962C8B-B14F-4D97-AF65-F5344CB8AC3E}">
        <p14:creationId xmlns:p14="http://schemas.microsoft.com/office/powerpoint/2010/main" val="1359977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3559A-A95D-39C2-424B-145A443976D6}"/>
              </a:ext>
            </a:extLst>
          </p:cNvPr>
          <p:cNvSpPr>
            <a:spLocks noGrp="1"/>
          </p:cNvSpPr>
          <p:nvPr>
            <p:ph type="title"/>
          </p:nvPr>
        </p:nvSpPr>
        <p:spPr>
          <a:xfrm>
            <a:off x="1534696" y="228601"/>
            <a:ext cx="9520158" cy="1001485"/>
          </a:xfrm>
        </p:spPr>
        <p:txBody>
          <a:bodyPr/>
          <a:lstStyle/>
          <a:p>
            <a:r>
              <a:rPr lang="en-GB" b="1" dirty="0">
                <a:latin typeface="Times New Roman" panose="02020603050405020304" pitchFamily="18" charset="0"/>
                <a:cs typeface="Times New Roman" panose="02020603050405020304" pitchFamily="18" charset="0"/>
              </a:rPr>
              <a:t>REAL WORLD EXAMPLE OF CYCER CRIME</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D307EEC-8B43-A8F3-14E9-DDA834163675}"/>
              </a:ext>
            </a:extLst>
          </p:cNvPr>
          <p:cNvSpPr>
            <a:spLocks noGrp="1"/>
          </p:cNvSpPr>
          <p:nvPr>
            <p:ph idx="1"/>
          </p:nvPr>
        </p:nvSpPr>
        <p:spPr>
          <a:xfrm>
            <a:off x="1534696" y="1632858"/>
            <a:ext cx="10276304" cy="3833488"/>
          </a:xfrm>
        </p:spPr>
        <p:txBody>
          <a:bodyPr>
            <a:noAutofit/>
          </a:bodyPr>
          <a:lstStyle/>
          <a:p>
            <a:r>
              <a:rPr lang="en-GB" sz="2200" b="1" dirty="0">
                <a:latin typeface="Times New Roman" panose="02020603050405020304" pitchFamily="18" charset="0"/>
                <a:cs typeface="Times New Roman" panose="02020603050405020304" pitchFamily="18" charset="0"/>
              </a:rPr>
              <a:t>Home Depot Point-of-Sale Breach (2014):</a:t>
            </a:r>
          </a:p>
          <a:p>
            <a:pPr marL="0" indent="0">
              <a:buNone/>
            </a:pPr>
            <a:r>
              <a:rPr lang="en-GB" sz="2200" dirty="0">
                <a:latin typeface="Times New Roman" panose="02020603050405020304" pitchFamily="18" charset="0"/>
                <a:cs typeface="Times New Roman" panose="02020603050405020304" pitchFamily="18" charset="0"/>
              </a:rPr>
              <a:t> Hackers deployed malware on payment terminals to steal credit and debit card information from approximately 50 million customers.</a:t>
            </a:r>
          </a:p>
          <a:p>
            <a:r>
              <a:rPr lang="en-GB" sz="2200" b="1" dirty="0">
                <a:latin typeface="Times New Roman" panose="02020603050405020304" pitchFamily="18" charset="0"/>
                <a:cs typeface="Times New Roman" panose="02020603050405020304" pitchFamily="18" charset="0"/>
              </a:rPr>
              <a:t>Google &amp; Facebook (2013-2015): </a:t>
            </a:r>
          </a:p>
          <a:p>
            <a:pPr marL="0" indent="0">
              <a:buNone/>
            </a:pPr>
            <a:r>
              <a:rPr lang="en-GB" sz="2200" dirty="0">
                <a:latin typeface="Times New Roman" panose="02020603050405020304" pitchFamily="18" charset="0"/>
                <a:cs typeface="Times New Roman" panose="02020603050405020304" pitchFamily="18" charset="0"/>
              </a:rPr>
              <a:t>A $100 million scam where attackers impersonated a hardware vendor via phishing emails and fake invoices.</a:t>
            </a:r>
          </a:p>
          <a:p>
            <a:r>
              <a:rPr lang="en-GB" sz="2200" b="1" dirty="0">
                <a:latin typeface="Times New Roman" panose="02020603050405020304" pitchFamily="18" charset="0"/>
                <a:cs typeface="Times New Roman" panose="02020603050405020304" pitchFamily="18" charset="0"/>
              </a:rPr>
              <a:t>Yahoo Data Breaches (2013–2014): </a:t>
            </a:r>
          </a:p>
          <a:p>
            <a:pPr marL="0" indent="0">
              <a:buNone/>
            </a:pPr>
            <a:r>
              <a:rPr lang="en-GB" sz="2200" dirty="0">
                <a:latin typeface="Times New Roman" panose="02020603050405020304" pitchFamily="18" charset="0"/>
                <a:cs typeface="Times New Roman" panose="02020603050405020304" pitchFamily="18" charset="0"/>
              </a:rPr>
              <a:t>One of the largest corporate data breaches in history compromised up to 1.5 billion user accounts, exposing names, email addresses, and hashed passwords</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82494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B5C45-74E5-8211-97F4-6BF4B3B5400E}"/>
              </a:ext>
            </a:extLst>
          </p:cNvPr>
          <p:cNvSpPr>
            <a:spLocks noGrp="1"/>
          </p:cNvSpPr>
          <p:nvPr>
            <p:ph type="title"/>
          </p:nvPr>
        </p:nvSpPr>
        <p:spPr>
          <a:xfrm>
            <a:off x="1534696" y="108857"/>
            <a:ext cx="9520158" cy="892629"/>
          </a:xfrm>
        </p:spPr>
        <p:txBody>
          <a:bodyPr/>
          <a:lstStyle/>
          <a:p>
            <a:r>
              <a:rPr lang="en-GB" b="1" dirty="0">
                <a:latin typeface="Times New Roman" panose="02020603050405020304" pitchFamily="18" charset="0"/>
                <a:cs typeface="Times New Roman" panose="02020603050405020304" pitchFamily="18" charset="0"/>
              </a:rPr>
              <a:t>INTERACTIVE QUIZ</a:t>
            </a:r>
            <a:endParaRPr lang="en-US"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35BA079-A0B9-CC62-5666-D1FE0A8B4BF2}"/>
              </a:ext>
            </a:extLst>
          </p:cNvPr>
          <p:cNvSpPr>
            <a:spLocks noGrp="1"/>
          </p:cNvSpPr>
          <p:nvPr>
            <p:ph idx="1"/>
          </p:nvPr>
        </p:nvSpPr>
        <p:spPr>
          <a:xfrm>
            <a:off x="1534695" y="1251858"/>
            <a:ext cx="10526675" cy="4615542"/>
          </a:xfrm>
        </p:spPr>
        <p:txBody>
          <a:bodyPr>
            <a:normAutofit fontScale="25000" lnSpcReduction="20000"/>
          </a:bodyPr>
          <a:lstStyle/>
          <a:p>
            <a:pPr marL="0" indent="0">
              <a:buNone/>
            </a:pPr>
            <a:r>
              <a:rPr lang="en-GB" sz="8000" dirty="0">
                <a:latin typeface="Times New Roman" panose="02020603050405020304" pitchFamily="18" charset="0"/>
                <a:cs typeface="Times New Roman" panose="02020603050405020304" pitchFamily="18" charset="0"/>
              </a:rPr>
              <a:t>1. You receive an email claiming to be from "Paypa1.com" regarding an urgent account suspension. What specific deceptive technique is being used in the sender's domain name?</a:t>
            </a:r>
          </a:p>
          <a:p>
            <a:pPr marL="0" indent="0">
              <a:buNone/>
            </a:pPr>
            <a:r>
              <a:rPr lang="en-GB" sz="8000" dirty="0">
                <a:latin typeface="Times New Roman" panose="02020603050405020304" pitchFamily="18" charset="0"/>
                <a:cs typeface="Times New Roman" panose="02020603050405020304" pitchFamily="18" charset="0"/>
              </a:rPr>
              <a:t>2. Your bank account will be permanently closed in 2 hours unless you verify your identity now!" Why do attackers heavily rely on this specific emotional hook?</a:t>
            </a:r>
          </a:p>
          <a:p>
            <a:pPr marL="0" indent="0">
              <a:buNone/>
            </a:pPr>
            <a:r>
              <a:rPr lang="en-GB" sz="8000" dirty="0">
                <a:latin typeface="Times New Roman" panose="02020603050405020304" pitchFamily="18" charset="0"/>
                <a:cs typeface="Times New Roman" panose="02020603050405020304" pitchFamily="18" charset="0"/>
              </a:rPr>
              <a:t>  A. It triggers panic and a rush to action, bypassing critical logical thinking.</a:t>
            </a:r>
          </a:p>
          <a:p>
            <a:pPr marL="0" indent="0">
              <a:buNone/>
            </a:pPr>
            <a:r>
              <a:rPr lang="en-GB" sz="8000" dirty="0">
                <a:latin typeface="Times New Roman" panose="02020603050405020304" pitchFamily="18" charset="0"/>
                <a:cs typeface="Times New Roman" panose="02020603050405020304" pitchFamily="18" charset="0"/>
              </a:rPr>
              <a:t>  B. It gives the victim enough time to consult an IT security department.</a:t>
            </a:r>
          </a:p>
          <a:p>
            <a:pPr marL="0" indent="0">
              <a:buNone/>
            </a:pPr>
            <a:r>
              <a:rPr lang="en-GB" sz="8000" dirty="0">
                <a:latin typeface="Times New Roman" panose="02020603050405020304" pitchFamily="18" charset="0"/>
                <a:cs typeface="Times New Roman" panose="02020603050405020304" pitchFamily="18" charset="0"/>
              </a:rPr>
              <a:t>  C. It complies with standard financial regulations for account verification.</a:t>
            </a:r>
          </a:p>
          <a:p>
            <a:pPr marL="0" indent="0">
              <a:buNone/>
            </a:pPr>
            <a:r>
              <a:rPr lang="en-GB" sz="8000" dirty="0">
                <a:latin typeface="Times New Roman" panose="02020603050405020304" pitchFamily="18" charset="0"/>
                <a:cs typeface="Times New Roman" panose="02020603050405020304" pitchFamily="18" charset="0"/>
              </a:rPr>
              <a:t>  D. It ensures that the recipient reads the technical message more carefully.</a:t>
            </a:r>
          </a:p>
          <a:p>
            <a:pPr marL="0" indent="0">
              <a:buNone/>
            </a:pPr>
            <a:r>
              <a:rPr lang="en-GB" sz="8000" dirty="0">
                <a:latin typeface="Times New Roman" panose="02020603050405020304" pitchFamily="18" charset="0"/>
                <a:cs typeface="Times New Roman" panose="02020603050405020304" pitchFamily="18" charset="0"/>
              </a:rPr>
              <a:t>3. Even if an employee falls for a sophisticated phishing attack and types their password into a fake login page, why is Multi-Factor Authentication (MFA) considered a crucial defense?</a:t>
            </a:r>
          </a:p>
          <a:p>
            <a:pPr marL="0" indent="0">
              <a:buNone/>
            </a:pPr>
            <a:r>
              <a:rPr lang="en-GB" sz="8000" dirty="0">
                <a:latin typeface="Times New Roman" panose="02020603050405020304" pitchFamily="18" charset="0"/>
                <a:cs typeface="Times New Roman" panose="02020603050405020304" pitchFamily="18" charset="0"/>
              </a:rPr>
              <a:t>    A. It prevents the attacker from ever sending phishing emails to the employee's inbox.</a:t>
            </a:r>
          </a:p>
          <a:p>
            <a:pPr marL="0" indent="0">
              <a:buNone/>
            </a:pPr>
            <a:r>
              <a:rPr lang="en-GB" sz="8000" dirty="0">
                <a:latin typeface="Times New Roman" panose="02020603050405020304" pitchFamily="18" charset="0"/>
                <a:cs typeface="Times New Roman" panose="02020603050405020304" pitchFamily="18" charset="0"/>
              </a:rPr>
              <a:t>    B. It automatically blocks the user's IP address upon a failed password attempt.</a:t>
            </a:r>
          </a:p>
          <a:p>
            <a:pPr marL="0" indent="0">
              <a:buNone/>
            </a:pPr>
            <a:r>
              <a:rPr lang="en-GB" sz="8000" dirty="0">
                <a:latin typeface="Times New Roman" panose="02020603050405020304" pitchFamily="18" charset="0"/>
                <a:cs typeface="Times New Roman" panose="02020603050405020304" pitchFamily="18" charset="0"/>
              </a:rPr>
              <a:t>    C. It encrypts the initial phishing email so the user cannot click any links inside it.</a:t>
            </a:r>
          </a:p>
          <a:p>
            <a:pPr marL="0" indent="0">
              <a:buNone/>
            </a:pPr>
            <a:r>
              <a:rPr lang="en-GB" sz="8000" dirty="0">
                <a:latin typeface="Times New Roman" panose="02020603050405020304" pitchFamily="18" charset="0"/>
                <a:cs typeface="Times New Roman" panose="02020603050405020304" pitchFamily="18" charset="0"/>
              </a:rPr>
              <a:t>    D. It requires a second, separate verification factor that the phisher typically does not possess</a:t>
            </a:r>
            <a:r>
              <a:rPr lang="en-GB" dirty="0"/>
              <a:t>.</a:t>
            </a:r>
          </a:p>
          <a:p>
            <a:r>
              <a:rPr lang="en-US" dirty="0"/>
              <a:t> </a:t>
            </a:r>
          </a:p>
        </p:txBody>
      </p:sp>
    </p:spTree>
    <p:extLst>
      <p:ext uri="{BB962C8B-B14F-4D97-AF65-F5344CB8AC3E}">
        <p14:creationId xmlns:p14="http://schemas.microsoft.com/office/powerpoint/2010/main" val="125949282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TM10001114[[fn=Gallery]]</Template>
  <TotalTime>2966</TotalTime>
  <Words>1067</Words>
  <Application>Microsoft Office PowerPoint</Application>
  <PresentationFormat>Widescreen</PresentationFormat>
  <Paragraphs>71</Paragraphs>
  <Slides>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Aptos</vt:lpstr>
      <vt:lpstr>Arial</vt:lpstr>
      <vt:lpstr>Palatino Linotype</vt:lpstr>
      <vt:lpstr>Times New Roman</vt:lpstr>
      <vt:lpstr>Gallery</vt:lpstr>
      <vt:lpstr>PHISHING AWARENESS TRAINING</vt:lpstr>
      <vt:lpstr>PHISHING</vt:lpstr>
      <vt:lpstr>HOW TO RECOGNIZE PHISHING EMAILS</vt:lpstr>
      <vt:lpstr>HOW TO RECOGNIZE FAKE WEBSITES</vt:lpstr>
      <vt:lpstr>SOCIAL ENGINEERING TACTICS</vt:lpstr>
      <vt:lpstr>HOW TO AVOID FALLING A VICTIM</vt:lpstr>
      <vt:lpstr>REAL WORLD EXAMPLE OF CYCER CRIME</vt:lpstr>
      <vt:lpstr>INTERACTIVE QUIZ</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Tijargbin Richard</dc:creator>
  <cp:lastModifiedBy>Tijargbin Richard</cp:lastModifiedBy>
  <cp:revision>4</cp:revision>
  <dcterms:created xsi:type="dcterms:W3CDTF">2026-10-12T02:11:55Z</dcterms:created>
  <dcterms:modified xsi:type="dcterms:W3CDTF">2026-10-14T03:42:55Z</dcterms:modified>
</cp:coreProperties>
</file>